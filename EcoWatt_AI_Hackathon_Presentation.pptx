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" dt="2026-10-17T18:22:19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8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641080" y="731520"/>
            <a:ext cx="2651760" cy="2651760"/>
          </a:xfrm>
          <a:prstGeom prst="roundRect">
            <a:avLst/>
          </a:prstGeom>
          <a:solidFill>
            <a:srgbClr val="BEE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89720" y="1280160"/>
            <a:ext cx="1554480" cy="1554480"/>
          </a:xfrm>
          <a:prstGeom prst="roundRect">
            <a:avLst/>
          </a:prstGeom>
          <a:solidFill>
            <a:srgbClr val="28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45168" y="1572768"/>
            <a:ext cx="123444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kWh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7132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89168"/>
                </a:solidFill>
                <a:latin typeface="Aptos"/>
              </a:defRPr>
            </a:pPr>
            <a:r>
              <a:t>SDG HACKATHON  |  GROUP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7315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4200" b="1">
                <a:solidFill>
                  <a:srgbClr val="1B2734"/>
                </a:solidFill>
                <a:latin typeface="Aptos"/>
              </a:defRPr>
            </a:pPr>
            <a:r>
              <a:t>EcoWatt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80360"/>
            <a:ext cx="69494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500" b="0">
                <a:solidFill>
                  <a:srgbClr val="5B6A73"/>
                </a:solidFill>
                <a:latin typeface="Aptos"/>
              </a:defRPr>
            </a:pPr>
            <a:r>
              <a:t>Understand your home,</a:t>
            </a:r>
          </a:p>
          <a:p>
            <a:pPr algn="l">
              <a:spcAft>
                <a:spcPts val="800"/>
              </a:spcAft>
              <a:defRPr sz="2500" b="0">
                <a:solidFill>
                  <a:srgbClr val="5B6A73"/>
                </a:solidFill>
                <a:latin typeface="Aptos"/>
              </a:defRPr>
            </a:pPr>
            <a:r>
              <a:t>one appliance at a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51960"/>
            <a:ext cx="2377440" cy="54864"/>
          </a:xfrm>
          <a:prstGeom prst="rect">
            <a:avLst/>
          </a:prstGeom>
          <a:solidFill>
            <a:srgbClr val="28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4572000"/>
            <a:ext cx="7132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B2734"/>
                </a:solidFill>
                <a:latin typeface="Aptos"/>
              </a:defRPr>
            </a:pPr>
            <a:r>
              <a:t>Household energy awareness &amp; actionable saving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9788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B6A73"/>
                </a:solidFill>
                <a:latin typeface="Aptos"/>
              </a:defRPr>
            </a:pPr>
            <a:r>
              <a:t>17 October 2026  •  Samsung Innovation Campus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B6A73"/>
                </a:solidFill>
                <a:latin typeface="Aptos"/>
              </a:defRPr>
            </a:pPr>
            <a:r>
              <a:t>ECOWATT AI  •  SAMSUNG INNOVATION CAMPUS  •  GROUP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B879C9-C5F9-8B4E-C32E-554C7A23BED4}"/>
              </a:ext>
            </a:extLst>
          </p:cNvPr>
          <p:cNvSpPr txBox="1"/>
          <p:nvPr/>
        </p:nvSpPr>
        <p:spPr>
          <a:xfrm>
            <a:off x="8850822" y="4264466"/>
            <a:ext cx="27432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4000">
                <a:latin typeface="Aptos Display"/>
              </a:rPr>
              <a:t>GROUP 8</a:t>
            </a:r>
            <a:endParaRPr lang="en-US" sz="4000">
              <a:latin typeface="Aptos Display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11CAB9-E76F-BF17-BA63-4A2D1DDC7B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1" t="5189" r="-1373" b="1220"/>
          <a:stretch>
            <a:fillRect/>
          </a:stretch>
        </p:blipFill>
        <p:spPr>
          <a:xfrm>
            <a:off x="9502775" y="1676133"/>
            <a:ext cx="941921" cy="7755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89168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B6A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89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1B2734"/>
                </a:solidFill>
                <a:latin typeface="Aptos"/>
              </a:defRPr>
            </a:pPr>
            <a:r>
              <a:t>A bill shows the total. It rarely explains the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50008"/>
            <a:ext cx="109728" cy="109728"/>
          </a:xfrm>
          <a:prstGeom prst="roundRect">
            <a:avLst/>
          </a:prstGeom>
          <a:solidFill>
            <a:srgbClr val="28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240280"/>
            <a:ext cx="495604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B2734"/>
                </a:solidFill>
                <a:latin typeface="Aptos"/>
              </a:defRPr>
            </a:pPr>
            <a:r>
              <a:t>Households may not know which appliances drive their electricity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55848"/>
            <a:ext cx="109728" cy="109728"/>
          </a:xfrm>
          <a:prstGeom prst="roundRect">
            <a:avLst/>
          </a:prstGeom>
          <a:solidFill>
            <a:srgbClr val="28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246120"/>
            <a:ext cx="495604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B2734"/>
                </a:solidFill>
                <a:latin typeface="Aptos"/>
              </a:defRPr>
            </a:pPr>
            <a:r>
              <a:t>Many users do not know appliance ratings or how to estimate consumption.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61688"/>
            <a:ext cx="109728" cy="109728"/>
          </a:xfrm>
          <a:prstGeom prst="roundRect">
            <a:avLst/>
          </a:prstGeom>
          <a:solidFill>
            <a:srgbClr val="28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4251960"/>
            <a:ext cx="495604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B2734"/>
                </a:solidFill>
                <a:latin typeface="Aptos"/>
              </a:defRPr>
            </a:pPr>
            <a:r>
              <a:t>Without clear breakdowns, practical changes are harder to identify.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965960"/>
            <a:ext cx="4389120" cy="315468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233172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289168"/>
                </a:solidFill>
                <a:latin typeface="Aptos"/>
              </a:defRPr>
            </a:pPr>
            <a:r>
              <a:t>THE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880360"/>
            <a:ext cx="356616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1B2734"/>
                </a:solidFill>
                <a:latin typeface="Aptos"/>
              </a:defRPr>
            </a:pPr>
            <a:r>
              <a:t>“What can I change at home to use electricity more efficiently?”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B6A73"/>
                </a:solidFill>
                <a:latin typeface="Aptos"/>
              </a:defRPr>
            </a:pPr>
            <a:r>
              <a:t>ECOWATT AI  •  SAMSUNG INNOVATION CAMPUS  •  GROUP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89168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B6A7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B2734"/>
                </a:solidFill>
                <a:latin typeface="Aptos"/>
              </a:defRPr>
            </a:pPr>
            <a:r>
              <a:t>From household inputs to actionable scenarios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514600" cy="251460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468880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8916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71800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B2734"/>
                </a:solidFill>
                <a:latin typeface="Aptos"/>
              </a:defRPr>
            </a:pPr>
            <a:r>
              <a:t>Describe the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657600"/>
            <a:ext cx="2103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B6A73"/>
                </a:solidFill>
                <a:latin typeface="Aptos"/>
              </a:defRPr>
            </a:pPr>
            <a:r>
              <a:t>Home type, occupancy and optional bill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2240280"/>
            <a:ext cx="2514600" cy="251460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5615" y="2468880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8916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971800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B2734"/>
                </a:solidFill>
                <a:latin typeface="Aptos"/>
              </a:defRPr>
            </a:pPr>
            <a:r>
              <a:t>Add appliances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5" y="3657600"/>
            <a:ext cx="2103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B6A73"/>
                </a:solidFill>
                <a:latin typeface="Aptos"/>
              </a:defRPr>
            </a:pPr>
            <a:r>
              <a:t>Known values or clearly labelled reference estimates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2240280"/>
            <a:ext cx="2514600" cy="251460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8544" y="2468880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8916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971800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B2734"/>
                </a:solidFill>
                <a:latin typeface="Aptos"/>
              </a:defRPr>
            </a:pPr>
            <a:r>
              <a:t>Estimate 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3657600"/>
            <a:ext cx="2103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B6A73"/>
                </a:solidFill>
                <a:latin typeface="Aptos"/>
              </a:defRPr>
            </a:pPr>
            <a:r>
              <a:t>Monthly kWh total and device-level breakdown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0304" y="2240280"/>
            <a:ext cx="2514600" cy="251460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91472" y="2468880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8916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971800"/>
            <a:ext cx="2103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B2734"/>
                </a:solidFill>
                <a:latin typeface="Aptos"/>
              </a:defRPr>
            </a:pPr>
            <a:r>
              <a:t>Review suggestions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3657600"/>
            <a:ext cx="2103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B6A73"/>
                </a:solidFill>
                <a:latin typeface="Aptos"/>
              </a:defRPr>
            </a:pPr>
            <a:r>
              <a:t>Gemini proposes changes; the app calculates potential savings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89168"/>
                </a:solidFill>
                <a:latin typeface="Aptos"/>
              </a:defRPr>
            </a:pPr>
            <a:r>
              <a:t>No bill-price calculation: the focus is understanding energy use in kWh.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B6A73"/>
                </a:solidFill>
                <a:latin typeface="Aptos"/>
              </a:defRPr>
            </a:pPr>
            <a:r>
              <a:t>ECOWATT AI  •  SAMSUNG INNOVATION CAMPUS  •  GROUP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89168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B6A7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B2734"/>
                </a:solidFill>
                <a:latin typeface="Aptos"/>
              </a:defRPr>
            </a:pPr>
            <a:r>
              <a:t>Keep arithmetic deterministic. Use AI for explanation.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77440"/>
            <a:ext cx="1691640" cy="150876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65176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289168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10896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B2734"/>
                </a:solidFill>
                <a:latin typeface="Aptos"/>
              </a:defRPr>
            </a:pPr>
            <a:r>
              <a:t>Household +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880360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8916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377440"/>
            <a:ext cx="1691640" cy="1508760"/>
          </a:xfrm>
          <a:prstGeom prst="roundRect">
            <a:avLst/>
          </a:prstGeom>
          <a:solidFill>
            <a:srgbClr val="E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265176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289168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10896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B2734"/>
                </a:solidFill>
                <a:latin typeface="Aptos"/>
              </a:defRPr>
            </a:pPr>
            <a:r>
              <a:t>Calculates kWh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80360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8916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377440"/>
            <a:ext cx="1691640" cy="150876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67528" y="265176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289168"/>
                </a:solidFill>
                <a:latin typeface="Aptos"/>
              </a:defRPr>
            </a:pPr>
            <a:r>
              <a:t>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310896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B2734"/>
                </a:solidFill>
                <a:latin typeface="Aptos"/>
              </a:defRPr>
            </a:pPr>
            <a:r>
              <a:t>Suggests a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880360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8916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377440"/>
            <a:ext cx="1691640" cy="1508760"/>
          </a:xfrm>
          <a:prstGeom prst="roundRect">
            <a:avLst/>
          </a:prstGeom>
          <a:solidFill>
            <a:srgbClr val="E7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9248" y="265176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289168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310896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B2734"/>
                </a:solidFill>
                <a:latin typeface="Aptos"/>
              </a:defRPr>
            </a:pPr>
            <a:r>
              <a:t>Checks the proposal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880360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8916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2377440"/>
            <a:ext cx="1691640" cy="150876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30967" y="2651760"/>
            <a:ext cx="1463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289168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3108960"/>
            <a:ext cx="1463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B2734"/>
                </a:solidFill>
                <a:latin typeface="Aptos"/>
              </a:defRPr>
            </a:pPr>
            <a:r>
              <a:t>Recalculates saving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572000"/>
            <a:ext cx="101498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773168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B2734"/>
                </a:solidFill>
                <a:latin typeface="Aptos"/>
              </a:defRPr>
            </a:pPr>
            <a:r>
              <a:t>Suggestions that are invalid, increase consumption, or switch a device off are rejected.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B6A73"/>
                </a:solidFill>
                <a:latin typeface="Aptos"/>
              </a:defRPr>
            </a:pPr>
            <a:r>
              <a:t>ECOWATT AI  •  SAMSUNG INNOVATION CAMPUS  •  GROUP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89168"/>
                </a:solidFill>
                <a:latin typeface="Aptos"/>
              </a:defRPr>
            </a:pPr>
            <a:r>
              <a:t>TEST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B6A7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B2734"/>
                </a:solidFill>
                <a:latin typeface="Aptos"/>
              </a:defRPr>
            </a:pPr>
            <a:r>
              <a:t>A worked example — not measured household savings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108960" cy="205740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289168"/>
                </a:solidFill>
                <a:latin typeface="Aptos"/>
              </a:defRPr>
            </a:pPr>
            <a:r>
              <a:t>ESTIMATED MONTHLY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5603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1B2734"/>
                </a:solidFill>
                <a:latin typeface="Aptos"/>
              </a:defRPr>
            </a:pPr>
            <a:r>
              <a:t>142.3 kWh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65960"/>
            <a:ext cx="3108960" cy="205740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233172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289168"/>
                </a:solidFill>
                <a:latin typeface="Aptos"/>
              </a:defRPr>
            </a:pPr>
            <a:r>
              <a:t>POTENTIAL SAVING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88920"/>
            <a:ext cx="25603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B2734"/>
                </a:solidFill>
                <a:latin typeface="Aptos"/>
              </a:defRPr>
            </a:pPr>
            <a:r>
              <a:t>17.3 kWh/mo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965960"/>
            <a:ext cx="3108960" cy="205740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233172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289168"/>
                </a:solidFill>
                <a:latin typeface="Aptos"/>
              </a:defRPr>
            </a:pPr>
            <a:r>
              <a:t>SHARE OF 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788920"/>
            <a:ext cx="25603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1B2734"/>
                </a:solidFill>
                <a:latin typeface="Aptos"/>
              </a:defRPr>
            </a:pPr>
            <a:r>
              <a:t>~12%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104241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5B6A73"/>
                </a:solidFill>
                <a:latin typeface="Aptos"/>
              </a:defRPr>
            </a:pPr>
            <a:r>
              <a:t>Example changes: desktop use 5 → 3.5 h/day • dishwasher 5 → 4 cycles/week • lighting 5 → 3.5 h/day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4068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289168"/>
                </a:solidFill>
                <a:latin typeface="Aptos"/>
              </a:defRPr>
            </a:pPr>
            <a:r>
              <a:t>The app recalculates each scenario in Python. Actual results depend on real usage and assumptions.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B6A73"/>
                </a:solidFill>
                <a:latin typeface="Aptos"/>
              </a:defRPr>
            </a:pPr>
            <a:r>
              <a:t>ECOWATT AI  •  SAMSUNG INNOVATION CAMPUS  •  GROUP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89168"/>
                </a:solidFill>
                <a:latin typeface="Aptos"/>
              </a:defRPr>
            </a:pPr>
            <a:r>
              <a:t>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B6A7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B2734"/>
                </a:solidFill>
                <a:latin typeface="Aptos"/>
              </a:defRPr>
            </a:pPr>
            <a:r>
              <a:t>A practical contribution to energy awareness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498348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297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89168"/>
                </a:solidFill>
                <a:latin typeface="Aptos"/>
              </a:defRPr>
            </a:pPr>
            <a:r>
              <a:t>SDG 7 • TARGET 7.3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11480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B2734"/>
                </a:solidFill>
                <a:latin typeface="Aptos"/>
              </a:defRPr>
            </a:pPr>
            <a:r>
              <a:t>Supports energy-efficiency awareness by helping users understand appliance-level consumption.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57400"/>
            <a:ext cx="498348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297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89168"/>
                </a:solidFill>
                <a:latin typeface="Aptos"/>
              </a:defRPr>
            </a:pPr>
            <a:r>
              <a:t>SDG 12 • TARGET 12.8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71800"/>
            <a:ext cx="411480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B2734"/>
                </a:solidFill>
                <a:latin typeface="Aptos"/>
              </a:defRPr>
            </a:pPr>
            <a:r>
              <a:t>Encourages informed and sustainable consumption choices.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5B6A73"/>
                </a:solidFill>
                <a:latin typeface="Aptos"/>
              </a:defRPr>
            </a:pPr>
            <a:r>
              <a:t>Potential impact depends on sustained adoption; the prototype has not proven real-world savings.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B6A73"/>
                </a:solidFill>
                <a:latin typeface="Aptos"/>
              </a:defRPr>
            </a:pPr>
            <a:r>
              <a:t>ECOWATT AI  •  SAMSUNG INNOVATION CAMPUS  •  GROUP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289168"/>
                </a:solidFill>
                <a:latin typeface="Aptos"/>
              </a:defRPr>
            </a:pPr>
            <a:r>
              <a:t>RESPONSIBLE AI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548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B6A7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B2734"/>
                </a:solidFill>
                <a:latin typeface="Aptos"/>
              </a:defRPr>
            </a:pPr>
            <a:r>
              <a:t>Transparent estimates. User control. Clear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29968"/>
            <a:ext cx="109728" cy="109728"/>
          </a:xfrm>
          <a:prstGeom prst="roundRect">
            <a:avLst/>
          </a:prstGeom>
          <a:solidFill>
            <a:srgbClr val="28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920240"/>
            <a:ext cx="545896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B2734"/>
                </a:solidFill>
                <a:latin typeface="Aptos"/>
              </a:defRPr>
            </a:pPr>
            <a:r>
              <a:t>Estimates are not meter readings or guarantees.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79776"/>
            <a:ext cx="109728" cy="109728"/>
          </a:xfrm>
          <a:prstGeom prst="roundRect">
            <a:avLst/>
          </a:prstGeom>
          <a:solidFill>
            <a:srgbClr val="28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670048"/>
            <a:ext cx="545896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B2734"/>
                </a:solidFill>
                <a:latin typeface="Aptos"/>
              </a:defRPr>
            </a:pPr>
            <a:r>
              <a:t>Users consent before household/device data is sent to Gemini.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29584"/>
            <a:ext cx="109728" cy="109728"/>
          </a:xfrm>
          <a:prstGeom prst="roundRect">
            <a:avLst/>
          </a:prstGeom>
          <a:solidFill>
            <a:srgbClr val="28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419856"/>
            <a:ext cx="545896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B2734"/>
                </a:solidFill>
                <a:latin typeface="Aptos"/>
              </a:defRPr>
            </a:pPr>
            <a:r>
              <a:t>Schema and server-side checks reduce invalid or unsafe suggestions.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79392"/>
            <a:ext cx="109728" cy="109728"/>
          </a:xfrm>
          <a:prstGeom prst="roundRect">
            <a:avLst/>
          </a:prstGeom>
          <a:solidFill>
            <a:srgbClr val="28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169664"/>
            <a:ext cx="5458968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1B2734"/>
                </a:solidFill>
                <a:latin typeface="Aptos"/>
              </a:defRPr>
            </a:pPr>
            <a:r>
              <a:t>Reference assumptions and uncertain habits can affect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828800"/>
            <a:ext cx="3977639" cy="3063240"/>
          </a:xfrm>
          <a:prstGeom prst="roundRect">
            <a:avLst/>
          </a:prstGeom>
          <a:solidFill>
            <a:srgbClr val="E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214884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289168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651760"/>
            <a:ext cx="333756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1B2734"/>
                </a:solidFill>
                <a:latin typeface="Aptos"/>
              </a:defRPr>
            </a:pPr>
            <a:r>
              <a:t>• Test with more households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B2734"/>
                </a:solidFill>
                <a:latin typeface="Aptos"/>
              </a:defRPr>
            </a:pPr>
            <a:r>
              <a:t>• Compare estimates with same-period bills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1B2734"/>
                </a:solidFill>
                <a:latin typeface="Aptos"/>
              </a:defRPr>
            </a:pPr>
            <a:r>
              <a:t>• Improve assumptions and 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289168"/>
                </a:solidFill>
                <a:latin typeface="Aptos"/>
              </a:defRPr>
            </a:pPr>
            <a:r>
              <a:t>EcoWatt AI helps people make informed decisions — it does not promise savings.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5B6A73"/>
                </a:solidFill>
                <a:latin typeface="Aptos"/>
              </a:defRPr>
            </a:pPr>
            <a:r>
              <a:t>ECOWATT AI  •  SAMSUNG INNOVATION CAMPUS  •  GROUP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9168"/>
                </a:solidFill>
                <a:latin typeface="Aptos"/>
              </a:defRPr>
            </a:pPr>
            <a:r>
              <a:t>POTENTIAL NATIONAL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92608"/>
            <a:ext cx="54864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B6A7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49808"/>
            <a:ext cx="109728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B2734"/>
                </a:solidFill>
                <a:latin typeface="Aptos"/>
              </a:defRPr>
            </a:pPr>
            <a:r>
              <a:t>Small household actions, national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30469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5B6A73"/>
                </a:solidFill>
                <a:latin typeface="Aptos"/>
              </a:defRPr>
            </a:pPr>
            <a:r>
              <a:t>A what-if scenario — not a forecast or a measured outcome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1089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724912"/>
            <a:ext cx="278892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89168"/>
                </a:solidFill>
                <a:latin typeface="Aptos"/>
              </a:defRPr>
            </a:pPr>
            <a:r>
              <a:t>26.98 million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364992"/>
            <a:ext cx="278892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B2734"/>
                </a:solidFill>
                <a:latin typeface="Aptos"/>
              </a:defRPr>
            </a:pPr>
            <a:r>
              <a:t>HOUSEHOLDS IN TÜRKİYE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274320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B6A73"/>
                </a:solidFill>
                <a:latin typeface="Aptos"/>
              </a:defRPr>
            </a:pPr>
            <a:r>
              <a:t>TÜİK,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468880"/>
            <a:ext cx="31089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2724912"/>
            <a:ext cx="278892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89168"/>
                </a:solidFill>
                <a:latin typeface="Aptos"/>
              </a:defRPr>
            </a:pPr>
            <a:r>
              <a:t>3.24 TWh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364992"/>
            <a:ext cx="278892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B2734"/>
                </a:solidFill>
                <a:latin typeface="Aptos"/>
              </a:defRPr>
            </a:pPr>
            <a:r>
              <a:t>POTENTIAL ANNUAL SAVING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794760"/>
            <a:ext cx="274320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B6A73"/>
                </a:solidFill>
                <a:latin typeface="Aptos"/>
              </a:defRPr>
            </a:pPr>
            <a:r>
              <a:t>If every household saved 10 kWh/month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468880"/>
            <a:ext cx="31089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2724912"/>
            <a:ext cx="278892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289168"/>
                </a:solidFill>
                <a:latin typeface="Aptos"/>
              </a:defRPr>
            </a:pPr>
            <a:r>
              <a:t>~1.52 Mt CO₂e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3364992"/>
            <a:ext cx="278892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B2734"/>
                </a:solidFill>
                <a:latin typeface="Aptos"/>
              </a:defRPr>
            </a:pPr>
            <a:r>
              <a:t>ILLUSTRATIVE EMISSIONS EQUIVALENT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794760"/>
            <a:ext cx="274320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B6A73"/>
                </a:solidFill>
                <a:latin typeface="Aptos"/>
              </a:defRPr>
            </a:pPr>
            <a:r>
              <a:t>Using the 2023 distribution-grid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10424160" cy="5943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B2734"/>
                </a:solidFill>
                <a:latin typeface="Aptos"/>
              </a:defRPr>
            </a:pPr>
            <a:r>
              <a:t>Lower electricity demand could reduce fossil-fuel generation and associated emissions, depending on which power plants respond to the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86400"/>
            <a:ext cx="10424160" cy="50475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B6A73"/>
                </a:solidFill>
                <a:latin typeface="Aptos"/>
              </a:defRPr>
            </a:pPr>
            <a:r>
              <a:rPr sz="1400" dirty="0"/>
              <a:t>Assumptions: 26,977,795 households × 10 kWh/month × 12 months = 3.24 TWh/year. Emissions equivalent uses 0.469 </a:t>
            </a:r>
            <a:r>
              <a:rPr sz="1400" dirty="0" err="1"/>
              <a:t>tCO₂e</a:t>
            </a:r>
            <a:r>
              <a:rPr sz="1400" dirty="0"/>
              <a:t>/MWh (Türkiye, 2023 distribution-grid factor). Actual savings and emissions reductions are not established.</a:t>
            </a:r>
            <a:endParaRPr lang="en-US" sz="1400"/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05840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B6A73"/>
                </a:solidFill>
                <a:latin typeface="Aptos"/>
              </a:defRPr>
            </a:pPr>
            <a:r>
              <a:t>Sources: TÜİK, Statistics on Family 2025; Republic of Türkiye Ministry of Energy and Natural Resources, 2023 electricity emission factors.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11</cp:revision>
  <dcterms:created xsi:type="dcterms:W3CDTF">2013-01-27T09:14:16Z</dcterms:created>
  <dcterms:modified xsi:type="dcterms:W3CDTF">2026-10-17T18:22:33Z</dcterms:modified>
  <cp:category/>
</cp:coreProperties>
</file>